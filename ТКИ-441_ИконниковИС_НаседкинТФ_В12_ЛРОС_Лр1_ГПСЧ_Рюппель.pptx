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9" r:id="rId2"/>
    <p:sldId id="473" r:id="rId3"/>
    <p:sldId id="492" r:id="rId4"/>
    <p:sldId id="495" r:id="rId5"/>
    <p:sldId id="496" r:id="rId6"/>
    <p:sldId id="497" r:id="rId7"/>
    <p:sldId id="499" r:id="rId8"/>
    <p:sldId id="500" r:id="rId9"/>
    <p:sldId id="508" r:id="rId10"/>
    <p:sldId id="493" r:id="rId11"/>
    <p:sldId id="501" r:id="rId12"/>
    <p:sldId id="502" r:id="rId13"/>
    <p:sldId id="503" r:id="rId14"/>
    <p:sldId id="509" r:id="rId15"/>
    <p:sldId id="504" r:id="rId16"/>
    <p:sldId id="494" r:id="rId17"/>
    <p:sldId id="506" r:id="rId18"/>
    <p:sldId id="505" r:id="rId19"/>
    <p:sldId id="507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492"/>
            <p14:sldId id="495"/>
            <p14:sldId id="496"/>
            <p14:sldId id="497"/>
            <p14:sldId id="499"/>
            <p14:sldId id="500"/>
            <p14:sldId id="508"/>
            <p14:sldId id="493"/>
            <p14:sldId id="501"/>
            <p14:sldId id="502"/>
            <p14:sldId id="503"/>
            <p14:sldId id="509"/>
            <p14:sldId id="504"/>
            <p14:sldId id="494"/>
            <p14:sldId id="506"/>
            <p14:sldId id="505"/>
            <p14:sldId id="50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  <p:cmAuthor id="2" name="Егор Микутьев" initials="ЕМ" lastIdx="1" clrIdx="1">
    <p:extLst>
      <p:ext uri="{19B8F6BF-5375-455C-9EA6-DF929625EA0E}">
        <p15:presenceInfo xmlns:p15="http://schemas.microsoft.com/office/powerpoint/2012/main" userId="5af1dbe6a5fc305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3763" autoAdjust="0"/>
  </p:normalViewPr>
  <p:slideViewPr>
    <p:cSldViewPr snapToGrid="0">
      <p:cViewPr varScale="1">
        <p:scale>
          <a:sx n="119" d="100"/>
          <a:sy n="119" d="100"/>
        </p:scale>
        <p:origin x="462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lashAnton/StegMethods/tree/master/%D0%97%D0%B0%D0%B4%D0%B0%D0%BD%D0%B8%D0%B5%2001.%20%D0%93%D0%9F%D0%A1%D0%A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6009756" cy="1458884"/>
          </a:xfrm>
        </p:spPr>
        <p:txBody>
          <a:bodyPr>
            <a:normAutofit fontScale="90000"/>
          </a:bodyPr>
          <a:lstStyle/>
          <a:p>
            <a:r>
              <a:rPr lang="ru-RU" sz="2800" dirty="0" err="1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Стеганографические</a:t>
            </a: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методы защиты информации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1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157220"/>
            <a:ext cx="6268482" cy="205654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Иконников Илья Сергеевич, ТКИ-441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Наседкин Тимофей Филиппович, ТКИ-441</a:t>
            </a:r>
          </a:p>
          <a:p>
            <a:pPr algn="l"/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A3B6FDF4-3AB5-3181-DE51-BC9533573728}"/>
              </a:ext>
            </a:extLst>
          </p:cNvPr>
          <p:cNvSpPr/>
          <p:nvPr/>
        </p:nvSpPr>
        <p:spPr>
          <a:xfrm>
            <a:off x="838200" y="1308814"/>
            <a:ext cx="10139314" cy="58785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Теория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оптимальной выборки (3000 точек)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плохого теста (3000 точек)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короткой выборки</a:t>
            </a:r>
            <a:b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(1000 точек)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выборки, превышающей периода</a:t>
            </a:r>
            <a:b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(10.000 точек)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выборки, многократно превышающей периода</a:t>
            </a:r>
            <a:b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(100.000 точек)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выборки, многократно превышающей периода</a:t>
            </a:r>
            <a:br>
              <a:rPr lang="ru-RU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</a:t>
            </a: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 точек)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(1000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3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(1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(1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00.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плохих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3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 по тестам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Сводная таблица результатов тестирования ГПСЧ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 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Список использованных источников</a:t>
            </a:r>
            <a:endParaRPr lang="ru-RU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Теория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D0B26-743E-4A76-ADE8-78FCC97ACB90}"/>
              </a:ext>
            </a:extLst>
          </p:cNvPr>
          <p:cNvSpPr txBox="1"/>
          <p:nvPr/>
        </p:nvSpPr>
        <p:spPr>
          <a:xfrm>
            <a:off x="562427" y="1746979"/>
            <a:ext cx="11067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D654A47-71C9-ED38-5070-803F0E1F5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748" y="1218010"/>
            <a:ext cx="4765157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Суть генератора: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Генератор, предложенный Р.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Рюппелем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объединяет выходы двух линейных регистров сдвига с обратной связью (ЛРОС) с помощью нелинейной операции — </a:t>
            </a:r>
            <a: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арифметического сложения с переносом.</a:t>
            </a:r>
            <a:br>
              <a:rPr kumimoji="0" lang="ru-RU" altLang="ru-RU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Сложение с переносом: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На каждом такте выходы регистров складываются по модулю 2, а возникший перенос запоминается и учитывается на следующем такте. Это обеспечивает высокую линейную сложность последовательности.</a:t>
            </a:r>
            <a:br>
              <a:rPr lang="ru-RU" b="1" dirty="0"/>
            </a:br>
            <a:r>
              <a:rPr lang="ru-RU" b="1" dirty="0"/>
              <a:t>Принцип работы:</a:t>
            </a:r>
            <a:endParaRPr lang="ru-RU" dirty="0"/>
          </a:p>
          <a:p>
            <a:r>
              <a:rPr lang="ru-RU" dirty="0"/>
              <a:t>Генератор, предложенный Р. </a:t>
            </a:r>
            <a:r>
              <a:rPr lang="ru-RU" dirty="0" err="1"/>
              <a:t>Рюппелем</a:t>
            </a:r>
            <a:r>
              <a:rPr lang="ru-RU" dirty="0"/>
              <a:t>, использует нелинейную операцию — </a:t>
            </a:r>
            <a:r>
              <a:rPr lang="ru-RU" b="1" dirty="0"/>
              <a:t>поразрядное суммирование с переносом </a:t>
            </a:r>
            <a:r>
              <a:rPr lang="ru-RU" dirty="0"/>
              <a:t>выходов нескольких (обычно двух) линейных регистров сдвига с обратной связью (ЛРОС).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E19CA6D-8138-692B-D13E-BFB06A1EA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5021" y="1410222"/>
            <a:ext cx="5834552" cy="40375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8C34E6-340D-35F2-70CC-AC40289C178B}"/>
              </a:ext>
            </a:extLst>
          </p:cNvPr>
          <p:cNvSpPr txBox="1"/>
          <p:nvPr/>
        </p:nvSpPr>
        <p:spPr>
          <a:xfrm>
            <a:off x="6850932" y="5716475"/>
            <a:ext cx="5341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Схема </a:t>
            </a:r>
            <a:r>
              <a:rPr lang="ru-RU" dirty="0" err="1"/>
              <a:t>алгоримта</a:t>
            </a:r>
            <a:r>
              <a:rPr lang="ru-RU" dirty="0"/>
              <a:t> генератора </a:t>
            </a:r>
            <a:r>
              <a:rPr lang="ru-RU" dirty="0" err="1"/>
              <a:t>Рюппеля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94690529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4"/>
            <a:ext cx="7091263" cy="946907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оптимальной выборки (3000 точек)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309BF-B0D5-4974-B604-9B62F386F5C0}"/>
              </a:ext>
            </a:extLst>
          </p:cNvPr>
          <p:cNvSpPr txBox="1"/>
          <p:nvPr/>
        </p:nvSpPr>
        <p:spPr>
          <a:xfrm>
            <a:off x="9758526" y="1796613"/>
            <a:ext cx="2014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 – 1, 6,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0FC913E-1DAC-167A-66A6-5D81ED554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936" y="1468818"/>
            <a:ext cx="8638131" cy="475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470758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плохого теста (3000 точек)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1EE0DC-605B-40FE-B7B5-28A0E11F95ED}"/>
              </a:ext>
            </a:extLst>
          </p:cNvPr>
          <p:cNvSpPr txBox="1"/>
          <p:nvPr/>
        </p:nvSpPr>
        <p:spPr>
          <a:xfrm>
            <a:off x="9758526" y="1796613"/>
            <a:ext cx="2014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3000</a:t>
            </a:r>
          </a:p>
          <a:p>
            <a:r>
              <a:rPr lang="ru-RU" dirty="0"/>
              <a:t>Влияющие биты – 1, 2,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9B423C1-3930-F03F-AC3E-1169990D0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03" y="1233592"/>
            <a:ext cx="8305774" cy="46240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32E32C-EC85-1CED-DCB6-4964D154ABD5}"/>
              </a:ext>
            </a:extLst>
          </p:cNvPr>
          <p:cNvSpPr txBox="1"/>
          <p:nvPr/>
        </p:nvSpPr>
        <p:spPr>
          <a:xfrm>
            <a:off x="485603" y="5923334"/>
            <a:ext cx="8797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Вывод:</a:t>
            </a:r>
            <a:r>
              <a:rPr lang="ru-RU" dirty="0"/>
              <a:t> </a:t>
            </a:r>
            <a:r>
              <a:rPr lang="ru-RU" i="1" dirty="0"/>
              <a:t>При неверном подборе отводов обратной связи период резко сокращается, что приводит к зацикливанию и высокой автокорреляции</a:t>
            </a:r>
            <a:r>
              <a:rPr lang="ru-RU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40470557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0184" y="421338"/>
            <a:ext cx="7487648" cy="640714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короткой выборки</a:t>
            </a:r>
            <a:b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(1000 точек)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7C6476-4BB8-45BF-AFB2-470DDC97000F}"/>
              </a:ext>
            </a:extLst>
          </p:cNvPr>
          <p:cNvSpPr txBox="1"/>
          <p:nvPr/>
        </p:nvSpPr>
        <p:spPr>
          <a:xfrm>
            <a:off x="9758526" y="1796613"/>
            <a:ext cx="2014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1000</a:t>
            </a:r>
          </a:p>
          <a:p>
            <a:r>
              <a:rPr lang="ru-RU" dirty="0"/>
              <a:t>Влияющие биты – 1, 6,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3754E41-FA83-C39A-AB64-0E27D71C4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67" y="1224103"/>
            <a:ext cx="8625744" cy="4801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130237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55426-E074-2C6A-70CB-F663A1DA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801651-C5A3-E039-862B-03048BA82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84" y="421338"/>
            <a:ext cx="7487648" cy="640714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выборки, превышающей периода</a:t>
            </a:r>
            <a:b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(10.000 точек)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585D484-4E91-065D-970D-AC9BDCA04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B309E-813E-AF28-3A2A-67C675BD16CF}"/>
              </a:ext>
            </a:extLst>
          </p:cNvPr>
          <p:cNvSpPr txBox="1"/>
          <p:nvPr/>
        </p:nvSpPr>
        <p:spPr>
          <a:xfrm>
            <a:off x="9758526" y="1796613"/>
            <a:ext cx="2014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10000</a:t>
            </a:r>
          </a:p>
          <a:p>
            <a:r>
              <a:rPr lang="ru-RU" dirty="0"/>
              <a:t>Влияющие биты – 1, 6,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B5A951-9FEA-323F-AC9C-79174B9C9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47" y="1404850"/>
            <a:ext cx="8668441" cy="4800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46641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59FD-F3B1-A97F-DC01-2D702CD3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55407-0B0C-248C-BFB9-791780DE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184" y="421338"/>
            <a:ext cx="7487648" cy="640714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выборки, многократно превышающей периода</a:t>
            </a:r>
            <a:b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(100.000 точек)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CF5E6E7-6EB1-AAA8-7582-09DAAA08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544E5-3B71-7FD2-567F-964C7782A76C}"/>
              </a:ext>
            </a:extLst>
          </p:cNvPr>
          <p:cNvSpPr txBox="1"/>
          <p:nvPr/>
        </p:nvSpPr>
        <p:spPr>
          <a:xfrm>
            <a:off x="9758526" y="1796613"/>
            <a:ext cx="2014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100000</a:t>
            </a:r>
          </a:p>
          <a:p>
            <a:r>
              <a:rPr lang="ru-RU" dirty="0"/>
              <a:t>Влияющие биты – 1, 6,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6C3FE06-3413-5610-B677-5C2A2164C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39" y="1368275"/>
            <a:ext cx="7822361" cy="43214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670663-B4AE-6FA2-5A84-6F9F591F3A6A}"/>
                  </a:ext>
                </a:extLst>
              </p:cNvPr>
              <p:cNvSpPr txBox="1"/>
              <p:nvPr/>
            </p:nvSpPr>
            <p:spPr>
              <a:xfrm>
                <a:off x="640893" y="5798145"/>
                <a:ext cx="1012490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b="1" dirty="0"/>
                  <a:t>Вывод:</a:t>
                </a:r>
                <a:r>
                  <a:rPr lang="ru-RU" dirty="0"/>
                  <a:t> сгенерирована последовательность из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100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ru-RU" dirty="0"/>
                  <a:t> элементов. Модуль автокорреляционного анализа визуализирует окно в </a:t>
                </a:r>
                <a14:m>
                  <m:oMath xmlns:m="http://schemas.openxmlformats.org/officeDocument/2006/math">
                    <m:r>
                      <a:rPr lang="ru-RU">
                        <a:latin typeface="Cambria Math" panose="02040503050406030204" pitchFamily="18" charset="0"/>
                      </a:rPr>
                      <m:t>10</m:t>
                    </m:r>
                    <m:r>
                      <a:rPr lang="ru-RU" b="0" i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>
                        <a:latin typeface="Cambria Math" panose="02040503050406030204" pitchFamily="18" charset="0"/>
                      </a:rPr>
                      <m:t>000</m:t>
                    </m:r>
                  </m:oMath>
                </a14:m>
                <a:r>
                  <a:rPr lang="ru-RU" dirty="0"/>
                  <a:t> точек, на котором коэффициенты автокорреляции не выходят за пределы доверительного интервала, подтверждая свойства </a:t>
                </a:r>
                <a:r>
                  <a:rPr lang="ru-RU" dirty="0" err="1"/>
                  <a:t>псевдослучайности</a:t>
                </a:r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F670663-B4AE-6FA2-5A84-6F9F591F3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93" y="5798145"/>
                <a:ext cx="10124902" cy="923330"/>
              </a:xfrm>
              <a:prstGeom prst="rect">
                <a:avLst/>
              </a:prstGeom>
              <a:blipFill>
                <a:blip r:embed="rId3"/>
                <a:stretch>
                  <a:fillRect l="-482" t="-3289" b="-921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9521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059FD-F3B1-A97F-DC01-2D702CD3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55407-0B0C-248C-BFB9-791780DE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913" y="601004"/>
            <a:ext cx="7487648" cy="640714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Пример идеального теста выборки, многократно превышающей периода</a:t>
            </a:r>
            <a:b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(1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.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 точек)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CF5E6E7-6EB1-AAA8-7582-09DAAA08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9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1544E5-3B71-7FD2-567F-964C7782A76C}"/>
              </a:ext>
            </a:extLst>
          </p:cNvPr>
          <p:cNvSpPr txBox="1"/>
          <p:nvPr/>
        </p:nvSpPr>
        <p:spPr>
          <a:xfrm>
            <a:off x="9758526" y="1796613"/>
            <a:ext cx="201453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Параметры</a:t>
            </a:r>
          </a:p>
          <a:p>
            <a:r>
              <a:rPr lang="ru-RU" dirty="0"/>
              <a:t>ЛРОС1</a:t>
            </a:r>
            <a:r>
              <a:rPr lang="en-US" dirty="0"/>
              <a:t>: </a:t>
            </a:r>
            <a:r>
              <a:rPr lang="ru-RU" dirty="0"/>
              <a:t>00000001</a:t>
            </a:r>
            <a:br>
              <a:rPr lang="en-US" dirty="0"/>
            </a:br>
            <a:r>
              <a:rPr lang="ru-RU" dirty="0"/>
              <a:t>Длина = 32</a:t>
            </a:r>
          </a:p>
          <a:p>
            <a:r>
              <a:rPr lang="ru-RU" dirty="0"/>
              <a:t>Числа = 10000</a:t>
            </a:r>
            <a:r>
              <a:rPr lang="en-US" dirty="0"/>
              <a:t>0</a:t>
            </a:r>
            <a:r>
              <a:rPr lang="ru-RU" dirty="0"/>
              <a:t>0</a:t>
            </a:r>
          </a:p>
          <a:p>
            <a:r>
              <a:rPr lang="ru-RU" dirty="0"/>
              <a:t>Влияющие биты – 1, 6, 32</a:t>
            </a:r>
          </a:p>
          <a:p>
            <a:endParaRPr lang="ru-RU" dirty="0"/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E8E8124-D1C3-BF54-8565-28AEAC9230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893" y="1434223"/>
            <a:ext cx="7735380" cy="4182059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A877EBD-8D9A-0770-32F8-38694FBBB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913" y="5644257"/>
            <a:ext cx="1192530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Вывод: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Сгенерирована последовательность из 1.000.000 элементов. На графике автокорреляции при анализе окна фиксируются резкие пики (макс. коэффициент 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0,9677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при лаге 4840), что подтверждает многократное повторение периода генератора (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 = 4840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 Вне этих пиков значения коэффициентов остаются в пределах доверительного интервала (+-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0,005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), однако наличие регулярных скачков указывает на полную цикличность последовательности при таких больших объемах данных.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160593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(1000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5FDF8-2A20-C8B6-A0E3-BE9F91B07B92}"/>
              </a:ext>
            </a:extLst>
          </p:cNvPr>
          <p:cNvSpPr txBox="1"/>
          <p:nvPr/>
        </p:nvSpPr>
        <p:spPr>
          <a:xfrm>
            <a:off x="8148743" y="2045916"/>
            <a:ext cx="366691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ru-RU" dirty="0">
                <a:effectLst/>
                <a:latin typeface="+mn-lt"/>
              </a:rPr>
              <a:t>- Анализ короткой выборки из 1000 чисел при правильных настройках (биты 1, 6, 32).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Генератор успешно прошёл </a:t>
            </a:r>
            <a:r>
              <a:rPr lang="en-US" b="1" dirty="0"/>
              <a:t>9</a:t>
            </a:r>
            <a:r>
              <a:rPr lang="ru-RU" b="1" dirty="0">
                <a:effectLst/>
                <a:latin typeface="+mn-lt"/>
              </a:rPr>
              <a:t> тестов из </a:t>
            </a:r>
            <a:r>
              <a:rPr lang="en-US" b="1" dirty="0"/>
              <a:t>13</a:t>
            </a:r>
            <a:r>
              <a:rPr lang="ru-RU" dirty="0">
                <a:effectLst/>
                <a:latin typeface="+mn-lt"/>
              </a:rPr>
              <a:t>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Для некоторых сложных тестов (например, спектрального или рангов матриц) 1000 чисел - это слишком маленькая выборка, алгоритмам просто не хватило данных для расчета.</a:t>
            </a:r>
            <a:endParaRPr lang="ru-RU" dirty="0">
              <a:effectLst/>
              <a:latin typeface="Google Sans Tex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678408-4C5A-1D9A-02B8-5D513417A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44" y="1145051"/>
            <a:ext cx="7147504" cy="4567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915663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9497B-C283-9A48-8A40-190311EE3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7CFEDE-560C-ABCC-762A-42200A371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179814F-A15D-6EE5-A7EE-E785278AD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F622A7-59DA-FC09-E407-73A07E3F064B}"/>
              </a:ext>
            </a:extLst>
          </p:cNvPr>
          <p:cNvSpPr txBox="1"/>
          <p:nvPr/>
        </p:nvSpPr>
        <p:spPr>
          <a:xfrm>
            <a:off x="8451965" y="1992205"/>
            <a:ext cx="360148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ru-RU" dirty="0">
                <a:effectLst/>
                <a:latin typeface="+mn-lt"/>
              </a:rPr>
              <a:t>- При увеличении длины до 3000 чисел зачтено </a:t>
            </a:r>
            <a:r>
              <a:rPr lang="en-US" b="1" dirty="0"/>
              <a:t>6</a:t>
            </a:r>
            <a:r>
              <a:rPr lang="ru-RU" b="1" dirty="0">
                <a:effectLst/>
                <a:latin typeface="+mn-lt"/>
              </a:rPr>
              <a:t> тестов из 1</a:t>
            </a:r>
            <a:r>
              <a:rPr lang="en-US" b="1" dirty="0">
                <a:effectLst/>
                <a:latin typeface="+mn-lt"/>
              </a:rPr>
              <a:t>3</a:t>
            </a:r>
            <a:r>
              <a:rPr lang="ru-RU" dirty="0">
                <a:effectLst/>
                <a:latin typeface="+mn-lt"/>
              </a:rPr>
              <a:t>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С одной стороны, выборка всё ещё маловата для тяжелых тестов NIST.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С другой стороны, длина файла уже начинает подбираться к полному периоду генератора (4840 чисел), из-за чего в данных начинают проявляться первые закономерности</a:t>
            </a:r>
            <a:endParaRPr lang="ru-RU" dirty="0">
              <a:effectLst/>
              <a:latin typeface="Google Sans Tex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94F015-98AE-6927-89BC-250047078F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748" y="990600"/>
            <a:ext cx="7560573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538967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B299D-DD3E-6635-8AFB-F20840EED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9D3533-2350-0320-BF3C-72B70BAF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(1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0.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A286915-F640-FB5B-D973-26125F65C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3E19E3-19DA-7913-1C98-7611B8BCC533}"/>
                  </a:ext>
                </a:extLst>
              </p:cNvPr>
              <p:cNvSpPr txBox="1"/>
              <p:nvPr/>
            </p:nvSpPr>
            <p:spPr>
              <a:xfrm>
                <a:off x="8508321" y="2047578"/>
                <a:ext cx="3368732" cy="3416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/>
                <a:r>
                  <a:rPr lang="ru-RU" dirty="0">
                    <a:effectLst/>
                    <a:latin typeface="+mn-lt"/>
                  </a:rPr>
                  <a:t>- На выборке в 10 000 чисел генератор прошёл </a:t>
                </a:r>
                <a:r>
                  <a:rPr lang="en-US" b="1" dirty="0"/>
                  <a:t>7</a:t>
                </a:r>
                <a:r>
                  <a:rPr lang="ru-RU" b="1" dirty="0">
                    <a:effectLst/>
                    <a:latin typeface="+mn-lt"/>
                  </a:rPr>
                  <a:t> тестов из </a:t>
                </a:r>
                <a:r>
                  <a:rPr lang="en-US" b="1" dirty="0"/>
                  <a:t>13</a:t>
                </a:r>
                <a:r>
                  <a:rPr lang="ru-RU" dirty="0">
                    <a:effectLst/>
                    <a:latin typeface="+mn-lt"/>
                  </a:rPr>
                  <a:t>. </a:t>
                </a:r>
              </a:p>
              <a:p>
                <a:pPr marR="0" lvl="0"/>
                <a:r>
                  <a:rPr lang="ru-RU" dirty="0">
                    <a:effectLst/>
                    <a:latin typeface="+mn-lt"/>
                  </a:rPr>
                  <a:t>- Длина файла превысила полный период генератора (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i="0">
                        <a:latin typeface="Cambria Math" panose="02040503050406030204" pitchFamily="18" charset="0"/>
                      </a:rPr>
                      <m:t>=4840</m:t>
                    </m:r>
                  </m:oMath>
                </a14:m>
                <a:r>
                  <a:rPr lang="ru-RU" dirty="0">
                    <a:effectLst/>
                    <a:latin typeface="+mn-lt"/>
                  </a:rPr>
                  <a:t>) более чем в два раза. </a:t>
                </a:r>
              </a:p>
              <a:p>
                <a:pPr marR="0" lvl="0"/>
                <a:r>
                  <a:rPr lang="ru-RU" dirty="0">
                    <a:effectLst/>
                    <a:latin typeface="+mn-lt"/>
                  </a:rPr>
                  <a:t>- Из-за того, что последовательность начала повторяться по второму кругу, базовые тесты на частоту и автокорреляцию начинают фиксировать цикличность.</a:t>
                </a:r>
                <a:endParaRPr lang="ru-RU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53E19E3-19DA-7913-1C98-7611B8BCC5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8321" y="2047578"/>
                <a:ext cx="3368732" cy="3416320"/>
              </a:xfrm>
              <a:prstGeom prst="rect">
                <a:avLst/>
              </a:prstGeom>
              <a:blipFill>
                <a:blip r:embed="rId2"/>
                <a:stretch>
                  <a:fillRect l="-1630" t="-1071" b="-19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4D2F520-00EA-D0DD-BB40-C6CF82BA76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125" y="993649"/>
            <a:ext cx="7855517" cy="519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68457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7DAC-538E-0216-C0BA-4326A0E4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1EA29-4E0F-55C4-8D83-DD4D223D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(1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00.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50533E-FDC9-C620-DC4B-F998F4C7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0C45FE-954A-26F0-89F0-6DAFB8BB9164}"/>
              </a:ext>
            </a:extLst>
          </p:cNvPr>
          <p:cNvSpPr txBox="1"/>
          <p:nvPr/>
        </p:nvSpPr>
        <p:spPr>
          <a:xfrm>
            <a:off x="8458546" y="2022640"/>
            <a:ext cx="304730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ru-RU" dirty="0">
                <a:effectLst/>
                <a:latin typeface="+mn-lt"/>
              </a:rPr>
              <a:t>- На выборке в 100 000 чисел пройдены только </a:t>
            </a:r>
            <a:r>
              <a:rPr lang="en-US" b="1" dirty="0"/>
              <a:t>5</a:t>
            </a:r>
            <a:r>
              <a:rPr lang="ru-RU" b="1" dirty="0">
                <a:effectLst/>
                <a:latin typeface="+mn-lt"/>
              </a:rPr>
              <a:t> теста из 1</a:t>
            </a:r>
            <a:r>
              <a:rPr lang="en-US" b="1" dirty="0">
                <a:effectLst/>
                <a:latin typeface="+mn-lt"/>
              </a:rPr>
              <a:t>3</a:t>
            </a:r>
            <a:r>
              <a:rPr lang="ru-RU" dirty="0">
                <a:effectLst/>
                <a:latin typeface="+mn-lt"/>
              </a:rPr>
              <a:t>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На таком длинном отрезке генератор успел повторить свой период (4840 чисел) более 20 раз.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Статистические тесты NIST легко замечают такую частую повторяемость и бракуют последовательность по большинству критериев. </a:t>
            </a:r>
            <a:endParaRPr lang="ru-RU" dirty="0">
              <a:effectLst/>
              <a:latin typeface="Google Sans Text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D3B421-30C7-8951-03C5-83A941D89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18" y="1324266"/>
            <a:ext cx="7204929" cy="4813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710785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67DAC-538E-0216-C0BA-4326A0E49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1EA29-4E0F-55C4-8D83-DD4D223D3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(1.0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00.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350533E-FDC9-C620-DC4B-F998F4C79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F874650-8E38-A62F-D6D2-237FDCA5E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11" y="1203158"/>
            <a:ext cx="7769673" cy="51531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7B9633-6214-3C37-A4C9-6AB6321E9D5F}"/>
              </a:ext>
            </a:extLst>
          </p:cNvPr>
          <p:cNvSpPr txBox="1"/>
          <p:nvPr/>
        </p:nvSpPr>
        <p:spPr>
          <a:xfrm>
            <a:off x="8264784" y="1943104"/>
            <a:ext cx="37176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ru-RU" dirty="0">
                <a:effectLst/>
                <a:latin typeface="+mn-lt"/>
              </a:rPr>
              <a:t>- На выборке в 1 </a:t>
            </a:r>
            <a:r>
              <a:rPr lang="ru-RU" dirty="0"/>
              <a:t>0</a:t>
            </a:r>
            <a:r>
              <a:rPr lang="ru-RU" dirty="0">
                <a:effectLst/>
                <a:latin typeface="+mn-lt"/>
              </a:rPr>
              <a:t>00 000 чисел пройдены только </a:t>
            </a:r>
            <a:r>
              <a:rPr lang="ru-RU" b="1" dirty="0">
                <a:effectLst/>
                <a:latin typeface="+mn-lt"/>
              </a:rPr>
              <a:t>4 теста из 1</a:t>
            </a:r>
            <a:r>
              <a:rPr lang="en-US" b="1" dirty="0">
                <a:effectLst/>
                <a:latin typeface="+mn-lt"/>
              </a:rPr>
              <a:t>3</a:t>
            </a:r>
            <a:r>
              <a:rPr lang="ru-RU" dirty="0">
                <a:effectLst/>
                <a:latin typeface="+mn-lt"/>
              </a:rPr>
              <a:t>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На таком длинном отрезке генератор успел повторить свой период (4840 чисел) более 200 раз.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Статистические тесты NIST легко замечают такую частую повторяемость и бракуют последовательность по большинству критериев. </a:t>
            </a:r>
            <a:endParaRPr lang="ru-RU" dirty="0">
              <a:effectLst/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615699681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6926B-64F9-4EB2-1C9C-284D050C0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758FF1-251C-051E-A936-0E6BAB036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748" y="288335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Тестирование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плохих 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(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3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000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 точек)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F43A0D1-9BBF-8E02-7320-14AB3183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10E02-1FDE-35E6-2549-409ABCCC6879}"/>
              </a:ext>
            </a:extLst>
          </p:cNvPr>
          <p:cNvSpPr txBox="1"/>
          <p:nvPr/>
        </p:nvSpPr>
        <p:spPr>
          <a:xfrm>
            <a:off x="8031579" y="2150147"/>
            <a:ext cx="387580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/>
            <a:r>
              <a:rPr lang="ru-RU" dirty="0">
                <a:effectLst/>
                <a:latin typeface="+mn-lt"/>
              </a:rPr>
              <a:t>- Для наглядности проверили генератор с некорректными влияющими битами (1, 2, 32).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Результат</a:t>
            </a:r>
            <a:r>
              <a:rPr lang="en-US" dirty="0">
                <a:effectLst/>
                <a:latin typeface="+mn-lt"/>
              </a:rPr>
              <a:t>: </a:t>
            </a:r>
            <a:r>
              <a:rPr lang="ru-RU" dirty="0">
                <a:effectLst/>
                <a:latin typeface="+mn-lt"/>
              </a:rPr>
              <a:t>пройден всего </a:t>
            </a:r>
            <a:r>
              <a:rPr lang="en-US" b="1" dirty="0"/>
              <a:t>2</a:t>
            </a:r>
            <a:r>
              <a:rPr lang="ru-RU" b="1" dirty="0">
                <a:effectLst/>
                <a:latin typeface="+mn-lt"/>
              </a:rPr>
              <a:t> тест из 1</a:t>
            </a:r>
            <a:r>
              <a:rPr lang="en-US" b="1" dirty="0">
                <a:effectLst/>
                <a:latin typeface="+mn-lt"/>
              </a:rPr>
              <a:t>3</a:t>
            </a:r>
            <a:r>
              <a:rPr lang="ru-RU" dirty="0">
                <a:effectLst/>
                <a:latin typeface="+mn-lt"/>
              </a:rPr>
              <a:t> (на сжимаемость). </a:t>
            </a:r>
          </a:p>
          <a:p>
            <a:pPr marR="0" lvl="0"/>
            <a:r>
              <a:rPr lang="ru-RU" dirty="0">
                <a:effectLst/>
                <a:latin typeface="+mn-lt"/>
              </a:rPr>
              <a:t>- Из-за неверной формулы период генератора "схлопнулся" всего до 24 чисел, поэтому последовательность зациклилась моментально и полностью провалила проверку.</a:t>
            </a:r>
            <a:endParaRPr lang="ru-RU" dirty="0">
              <a:effectLst/>
              <a:latin typeface="Google Sans Tex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2CD7A6F-E144-223D-9712-5DBD6E30E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12" y="1010899"/>
            <a:ext cx="7383514" cy="4836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49356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127" y="496882"/>
            <a:ext cx="7951870" cy="640714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 по тестам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C9F85-737B-3898-917D-7E050EABFD41}"/>
                  </a:ext>
                </a:extLst>
              </p:cNvPr>
              <p:cNvSpPr txBox="1"/>
              <p:nvPr/>
            </p:nvSpPr>
            <p:spPr>
              <a:xfrm>
                <a:off x="936986" y="2509033"/>
                <a:ext cx="1016521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ru-RU" b="1" dirty="0"/>
                  <a:t>Важность настроек:</a:t>
                </a:r>
                <a:r>
                  <a:rPr lang="ru-RU" dirty="0"/>
                  <a:t> Качество генератора Рюппеля полностью зависит от правильного выбора влияющих битов. При настройке (1, 6, 32) мы получаем большой период в 4840 чисел, а при ошибочной (1, 2, 32) - период сжимается до 24 чисел, и генератор становится непригоден. </a:t>
                </a:r>
              </a:p>
              <a:p>
                <a:pPr lvl="0"/>
                <a:endParaRPr lang="ru-RU" dirty="0"/>
              </a:p>
              <a:p>
                <a:pPr lvl="0"/>
                <a:r>
                  <a:rPr lang="ru-RU" b="1" dirty="0"/>
                  <a:t>Поведение внутри периода:</a:t>
                </a:r>
                <a:r>
                  <a:rPr lang="ru-RU" dirty="0"/>
                  <a:t> Пока длина выборки меньше периода (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u-RU">
                        <a:latin typeface="Cambria Math" panose="02040503050406030204" pitchFamily="18" charset="0"/>
                      </a:rPr>
                      <m:t>&lt;4840</m:t>
                    </m:r>
                  </m:oMath>
                </a14:m>
                <a:r>
                  <a:rPr lang="ru-RU" dirty="0"/>
                  <a:t>), последовательность ведет себя как псевдослучайная и отлично проходит базовые проверки. </a:t>
                </a:r>
              </a:p>
              <a:p>
                <a:pPr lvl="0"/>
                <a:endParaRPr lang="ru-RU" dirty="0"/>
              </a:p>
              <a:p>
                <a:pPr lvl="0"/>
                <a:r>
                  <a:rPr lang="ru-RU" b="1" dirty="0"/>
                  <a:t>Влияние длины выборки:</a:t>
                </a:r>
                <a:r>
                  <a:rPr lang="ru-RU" dirty="0"/>
                  <a:t> Слишком короткие файлы (1000 точек) валят часть тестов из-за нехватки данных, а слишком длинные (10k и 100k точек) - из-за неизбежного зацикливания генератора. </a:t>
                </a:r>
              </a:p>
              <a:p>
                <a:endParaRPr lang="ru-R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CC9F85-737B-3898-917D-7E050EABF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986" y="2509033"/>
                <a:ext cx="10165210" cy="2862322"/>
              </a:xfrm>
              <a:prstGeom prst="rect">
                <a:avLst/>
              </a:prstGeom>
              <a:blipFill>
                <a:blip r:embed="rId2"/>
                <a:stretch>
                  <a:fillRect l="-540" t="-12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3681054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395A59-1EA4-BCEC-5EF6-720164D9A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6661484" cy="939131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Сводная таблица результатов тестирования ГПСЧ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6364D02-627E-6BD0-83E9-7FE87B1E86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5026212"/>
              </p:ext>
            </p:extLst>
          </p:nvPr>
        </p:nvGraphicFramePr>
        <p:xfrm>
          <a:off x="681789" y="1128900"/>
          <a:ext cx="10395283" cy="572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2407">
                  <a:extLst>
                    <a:ext uri="{9D8B030D-6E8A-4147-A177-3AD203B41FA5}">
                      <a16:colId xmlns:a16="http://schemas.microsoft.com/office/drawing/2014/main" val="911049898"/>
                    </a:ext>
                  </a:extLst>
                </a:gridCol>
                <a:gridCol w="1512146">
                  <a:extLst>
                    <a:ext uri="{9D8B030D-6E8A-4147-A177-3AD203B41FA5}">
                      <a16:colId xmlns:a16="http://schemas.microsoft.com/office/drawing/2014/main" val="3179680237"/>
                    </a:ext>
                  </a:extLst>
                </a:gridCol>
                <a:gridCol w="1512146">
                  <a:extLst>
                    <a:ext uri="{9D8B030D-6E8A-4147-A177-3AD203B41FA5}">
                      <a16:colId xmlns:a16="http://schemas.microsoft.com/office/drawing/2014/main" val="2447084926"/>
                    </a:ext>
                  </a:extLst>
                </a:gridCol>
                <a:gridCol w="1512146">
                  <a:extLst>
                    <a:ext uri="{9D8B030D-6E8A-4147-A177-3AD203B41FA5}">
                      <a16:colId xmlns:a16="http://schemas.microsoft.com/office/drawing/2014/main" val="659723297"/>
                    </a:ext>
                  </a:extLst>
                </a:gridCol>
                <a:gridCol w="1512146">
                  <a:extLst>
                    <a:ext uri="{9D8B030D-6E8A-4147-A177-3AD203B41FA5}">
                      <a16:colId xmlns:a16="http://schemas.microsoft.com/office/drawing/2014/main" val="3053144354"/>
                    </a:ext>
                  </a:extLst>
                </a:gridCol>
                <a:gridCol w="1512146">
                  <a:extLst>
                    <a:ext uri="{9D8B030D-6E8A-4147-A177-3AD203B41FA5}">
                      <a16:colId xmlns:a16="http://schemas.microsoft.com/office/drawing/2014/main" val="1490161557"/>
                    </a:ext>
                  </a:extLst>
                </a:gridCol>
                <a:gridCol w="1512146">
                  <a:extLst>
                    <a:ext uri="{9D8B030D-6E8A-4147-A177-3AD203B41FA5}">
                      <a16:colId xmlns:a16="http://schemas.microsoft.com/office/drawing/2014/main" val="1404296740"/>
                    </a:ext>
                  </a:extLst>
                </a:gridCol>
              </a:tblGrid>
              <a:tr h="81769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Название эксперимента / Файл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Длина выборки </a:t>
                      </a:r>
                      <a:r>
                        <a:rPr lang="en-US" sz="12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endParaRPr lang="ru-R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Влияющие биты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Пройдено тестов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Рассчитанный период </a:t>
                      </a:r>
                      <a:r>
                        <a:rPr lang="en-US" sz="1200" i="1" dirty="0"/>
                        <a:t>T</a:t>
                      </a:r>
                      <a:endParaRPr lang="ru-RU" sz="12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Коэффициент АКФ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Итоговый результат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9747564"/>
                  </a:ext>
                </a:extLst>
              </a:tr>
              <a:tr h="81769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1" dirty="0">
                          <a:latin typeface="+mn-lt"/>
                        </a:rPr>
                        <a:t>Пример плохого теста</a:t>
                      </a:r>
                      <a:endParaRPr lang="ru-RU" sz="1200" dirty="0">
                        <a:latin typeface="+mn-lt"/>
                      </a:endParaRPr>
                    </a:p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3000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1,2,32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2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24</a:t>
                      </a:r>
                    </a:p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0,9921 </a:t>
                      </a:r>
                      <a:r>
                        <a:rPr lang="en-US" sz="1200" dirty="0">
                          <a:latin typeface="+mn-lt"/>
                        </a:rPr>
                        <a:t> </a:t>
                      </a:r>
                      <a:r>
                        <a:rPr lang="ru-RU" sz="1200" dirty="0">
                          <a:latin typeface="+mn-lt"/>
                        </a:rPr>
                        <a:t>лаг 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+mn-lt"/>
                        </a:rPr>
                        <a:t>Провал.</a:t>
                      </a:r>
                      <a:r>
                        <a:rPr lang="ru-RU" sz="1200" dirty="0">
                          <a:latin typeface="+mn-lt"/>
                        </a:rPr>
                        <a:t> Моментальное зацикливание.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879861"/>
                  </a:ext>
                </a:extLst>
              </a:tr>
              <a:tr h="81769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Тест короткой выборки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1000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1,6,32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9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4840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0,0857</a:t>
                      </a:r>
                      <a:r>
                        <a:rPr lang="en-US" sz="1200" dirty="0">
                          <a:latin typeface="+mn-lt"/>
                        </a:rPr>
                        <a:t>  </a:t>
                      </a:r>
                      <a:r>
                        <a:rPr lang="ru-RU" sz="1200" dirty="0">
                          <a:latin typeface="+mn-lt"/>
                        </a:rPr>
                        <a:t>лаг 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Удовлетворительно.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Нехватка данных для ряда тестов.</a:t>
                      </a:r>
                      <a:r>
                        <a:rPr lang="ru-RU" sz="1200" dirty="0">
                          <a:latin typeface="+mn-lt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873663"/>
                  </a:ext>
                </a:extLst>
              </a:tr>
              <a:tr h="81769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Оптимальная выборка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3000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1,6,32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6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4840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0,0559 </a:t>
                      </a:r>
                      <a:r>
                        <a:rPr lang="en-US" sz="1200" dirty="0">
                          <a:latin typeface="+mn-lt"/>
                        </a:rPr>
                        <a:t> </a:t>
                      </a:r>
                      <a:r>
                        <a:rPr lang="ru-RU" sz="1200" dirty="0">
                          <a:latin typeface="+mn-lt"/>
                        </a:rPr>
                        <a:t>лаг 398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Хорошо.</a:t>
                      </a:r>
                      <a:r>
                        <a:rPr lang="ru-RU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Выборка близка к пределу N &lt; T</a:t>
                      </a: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8278940"/>
                  </a:ext>
                </a:extLst>
              </a:tr>
              <a:tr h="81769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Превышение периода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10000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1,6,32</a:t>
                      </a:r>
                      <a:endParaRPr lang="ru-RU" sz="1200" dirty="0">
                        <a:latin typeface="+mn-lt"/>
                      </a:endParaRPr>
                    </a:p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7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4840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0,5150</a:t>
                      </a:r>
                      <a:r>
                        <a:rPr lang="en-US" sz="1200" dirty="0">
                          <a:latin typeface="+mn-lt"/>
                        </a:rPr>
                        <a:t>  </a:t>
                      </a:r>
                      <a:r>
                        <a:rPr lang="ru-RU" sz="1200" dirty="0">
                          <a:latin typeface="+mn-lt"/>
                        </a:rPr>
                        <a:t>лаг 4840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+mn-lt"/>
                        </a:rPr>
                        <a:t>Фиксация цикла.</a:t>
                      </a:r>
                      <a:r>
                        <a:rPr lang="ru-RU" sz="1200" dirty="0">
                          <a:latin typeface="+mn-lt"/>
                        </a:rPr>
                        <a:t> Данные повторились 2 раза.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149453"/>
                  </a:ext>
                </a:extLst>
              </a:tr>
              <a:tr h="81769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Многократный повтор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latin typeface="+mn-lt"/>
                        </a:rPr>
                        <a:t>100000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+mn-lt"/>
                        </a:rPr>
                        <a:t>1,6,32</a:t>
                      </a:r>
                      <a:endParaRPr lang="ru-RU" sz="1200" dirty="0">
                        <a:latin typeface="+mn-lt"/>
                      </a:endParaRPr>
                    </a:p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5 / 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4840</a:t>
                      </a:r>
                    </a:p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>
                          <a:latin typeface="+mn-lt"/>
                        </a:rPr>
                        <a:t>0,9516</a:t>
                      </a:r>
                      <a:r>
                        <a:rPr lang="en-US" sz="1200" dirty="0">
                          <a:latin typeface="+mn-lt"/>
                        </a:rPr>
                        <a:t>  </a:t>
                      </a:r>
                      <a:r>
                        <a:rPr lang="ru-RU" sz="1200" dirty="0">
                          <a:latin typeface="+mn-lt"/>
                        </a:rPr>
                        <a:t>лаг 4840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latin typeface="+mn-lt"/>
                        </a:rPr>
                        <a:t>Провал.</a:t>
                      </a:r>
                      <a:r>
                        <a:rPr lang="ru-RU" sz="1200" dirty="0">
                          <a:latin typeface="+mn-lt"/>
                        </a:rPr>
                        <a:t> Данные повторились более 20 раз. </a:t>
                      </a:r>
                    </a:p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7753543"/>
                  </a:ext>
                </a:extLst>
              </a:tr>
              <a:tr h="817690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Миллион точек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1000000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1, 6, 32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4 / 13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 = 4840</a:t>
                      </a:r>
                    </a:p>
                    <a:p>
                      <a:pPr algn="ctr"/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/>
                        <a:t>0,9677 (лаг 4840)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/>
                        <a:t>Провал.</a:t>
                      </a:r>
                      <a:r>
                        <a:rPr lang="ru-RU" sz="1200" dirty="0"/>
                        <a:t> Полная цикличность, 200 повторов периода</a:t>
                      </a:r>
                      <a:endParaRPr lang="ru-RU" sz="12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3281199"/>
                  </a:ext>
                </a:extLst>
              </a:tr>
            </a:tbl>
          </a:graphicData>
        </a:graphic>
      </p:graphicFrame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F6574A-4953-4DE2-6698-5750AE3F9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2635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DC63C1-0834-FD4B-BC23-335351A0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5231"/>
            <a:ext cx="10515600" cy="1325563"/>
          </a:xfrm>
        </p:spPr>
        <p:txBody>
          <a:bodyPr>
            <a:normAutofit/>
          </a:bodyPr>
          <a:lstStyle/>
          <a:p>
            <a:r>
              <a:rPr lang="ru-RU" sz="24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Вывод </a:t>
            </a:r>
            <a:endParaRPr lang="ru-RU" sz="2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2DF2D4-8776-79FD-1F0C-CF23A1C4B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90639DA-CD6E-CCEA-2277-F2E379D670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6380" y="3785035"/>
            <a:ext cx="9496926" cy="969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Генератор </a:t>
            </a:r>
            <a:r>
              <a:rPr kumimoji="0" lang="ru-RU" altLang="ru-RU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Рюппеля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при правильной настройке обеспечивает хорошее 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качество</a:t>
            </a:r>
            <a:r>
              <a:rPr lang="ru-RU" altLang="ru-RU" sz="2000">
                <a:latin typeface="Google Sans Text"/>
              </a:rPr>
              <a:t> реализации</a:t>
            </a:r>
            <a:r>
              <a:rPr kumimoji="0" lang="ru-RU" altLang="ru-RU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псевдослучайных чисел, однако его использование эффективно только на объемах данных, не превышающих период T.</a:t>
            </a:r>
            <a:endParaRPr kumimoji="0" lang="ru-RU" altLang="ru-RU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33723E3-1C50-C2FA-2C45-BBCA1CCE1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6380" y="2232312"/>
            <a:ext cx="10515600" cy="1585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В ходе выполнения лабораторной работы был реализован и исследован 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суммирующий генератор псевдослучайных чисел </a:t>
            </a:r>
            <a:r>
              <a:rPr kumimoji="0" lang="ru-RU" altLang="ru-RU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Рюппеля</a:t>
            </a:r>
            <a:r>
              <a:rPr kumimoji="0" lang="ru-RU" altLang="ru-RU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Проведены серии экспериментов с изменением полинома обратной связи влияющих битов</a:t>
            </a:r>
            <a:r>
              <a:rPr lang="en-US" altLang="ru-RU" sz="2000" dirty="0"/>
              <a:t>,</a:t>
            </a:r>
            <a:r>
              <a:rPr kumimoji="0" lang="ru-RU" altLang="ru-RU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а также оценены статистические свойства выходных последовательностей разной длины (1,000, 3,000, 10,000 и 100,000 точек) с помощью корреляционного и статистического анализа.</a:t>
            </a:r>
          </a:p>
        </p:txBody>
      </p:sp>
    </p:spTree>
    <p:extLst>
      <p:ext uri="{BB962C8B-B14F-4D97-AF65-F5344CB8AC3E}">
        <p14:creationId xmlns:p14="http://schemas.microsoft.com/office/powerpoint/2010/main" val="9170433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AA755-7EA0-29A3-1CBE-504543ACE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886074" cy="1223043"/>
          </a:xfrm>
        </p:spPr>
        <p:txBody>
          <a:bodyPr>
            <a:normAutofit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Список использованных источников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DDE34B-D157-7D18-17B8-64E44261C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4" y="1790700"/>
            <a:ext cx="10677526" cy="4702175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b="1" dirty="0"/>
              <a:t>Репозиторий учебного курса:</a:t>
            </a:r>
            <a:br>
              <a:rPr lang="ru-RU" dirty="0"/>
            </a:br>
            <a:r>
              <a:rPr lang="ru-RU" dirty="0" err="1"/>
              <a:t>Стеганографические</a:t>
            </a:r>
            <a:r>
              <a:rPr lang="ru-RU" dirty="0"/>
              <a:t> методы защиты информации. Задание 01: ГПСЧ [Электронный ресурс]. — Режим доступа: </a:t>
            </a:r>
            <a:r>
              <a:rPr lang="en-US" dirty="0">
                <a:hlinkClick r:id="rId2"/>
              </a:rPr>
              <a:t>GitHub </a:t>
            </a:r>
            <a:r>
              <a:rPr lang="en-US" dirty="0" err="1">
                <a:hlinkClick r:id="rId2"/>
              </a:rPr>
              <a:t>FlashAnton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StegMethods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Классическая монография по генератору </a:t>
            </a:r>
            <a:r>
              <a:rPr lang="ru-RU" b="1" dirty="0" err="1"/>
              <a:t>Рюппеля</a:t>
            </a:r>
            <a:r>
              <a:rPr lang="ru-RU" b="1" dirty="0"/>
              <a:t>:</a:t>
            </a:r>
            <a:br>
              <a:rPr lang="ru-RU" dirty="0"/>
            </a:br>
            <a:r>
              <a:rPr lang="en-US" i="1" dirty="0"/>
              <a:t>Ruppel, R. A.</a:t>
            </a:r>
            <a:r>
              <a:rPr lang="en-US" dirty="0"/>
              <a:t> Analysis and Design of Stream Ciphers / R. A. Ruppel. — Springer-Verlag, 1986. — (Lecture Notes in Computer Science).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lang="ru-RU" b="1" dirty="0"/>
              <a:t>Стандарты статистического тестирования:</a:t>
            </a:r>
            <a:br>
              <a:rPr lang="ru-RU" dirty="0"/>
            </a:br>
            <a:r>
              <a:rPr lang="en-US" i="1" dirty="0" err="1"/>
              <a:t>Rukhin</a:t>
            </a:r>
            <a:r>
              <a:rPr lang="en-US" i="1" dirty="0"/>
              <a:t>, A. et al.</a:t>
            </a:r>
            <a:r>
              <a:rPr lang="en-US" dirty="0"/>
              <a:t> A Statistical Test Suite for Random and Pseudorandom Number Generators for Cryptographic Applications (NIST SP 800-22) / National Institute of Standards and Technology, 2010.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485403-DA92-9552-EC9D-20FA8C77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42911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2841</TotalTime>
  <Words>1397</Words>
  <Application>Microsoft Office PowerPoint</Application>
  <PresentationFormat>Широкоэкранный</PresentationFormat>
  <Paragraphs>169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Cambria Math</vt:lpstr>
      <vt:lpstr>Google Sans Text</vt:lpstr>
      <vt:lpstr>Times New Roman</vt:lpstr>
      <vt:lpstr>Тема Office</vt:lpstr>
      <vt:lpstr>Стеганографические методы защиты информации Задание 1</vt:lpstr>
      <vt:lpstr>Оглавление</vt:lpstr>
      <vt:lpstr>Теория</vt:lpstr>
      <vt:lpstr>Пример идеального теста оптимальной выборки (3000 точек)</vt:lpstr>
      <vt:lpstr>Пример плохого теста (3000 точек)</vt:lpstr>
      <vt:lpstr>Пример идеального теста короткой выборки (1000 точек)</vt:lpstr>
      <vt:lpstr>Пример идеального теста выборки, превышающей периода (10.000 точек)</vt:lpstr>
      <vt:lpstr>Пример идеального теста выборки, многократно превышающей периода (100.000 точек)</vt:lpstr>
      <vt:lpstr>Пример идеального теста выборки, многократно превышающей периода (1.000.000 точек)</vt:lpstr>
      <vt:lpstr>Тестирование (1000 точек) </vt:lpstr>
      <vt:lpstr>Тестирование (3000 точек) </vt:lpstr>
      <vt:lpstr>Тестирование (10.000 точек) </vt:lpstr>
      <vt:lpstr>Тестирование (100.000 точек) </vt:lpstr>
      <vt:lpstr>Тестирование (1.000.000 точек) </vt:lpstr>
      <vt:lpstr>Тестирование плохих (3000 точек) </vt:lpstr>
      <vt:lpstr>Вывод по тестам</vt:lpstr>
      <vt:lpstr>Сводная таблица результатов тестирования ГПСЧ</vt:lpstr>
      <vt:lpstr>Вывод </vt:lpstr>
      <vt:lpstr>Список использованных источников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Alaymoon 0</cp:lastModifiedBy>
  <cp:revision>292</cp:revision>
  <dcterms:created xsi:type="dcterms:W3CDTF">2021-11-29T10:22:08Z</dcterms:created>
  <dcterms:modified xsi:type="dcterms:W3CDTF">2026-10-12T14:03:44Z</dcterms:modified>
</cp:coreProperties>
</file>